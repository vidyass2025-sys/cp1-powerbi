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79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6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71094"/>
          <a:stretch/>
        </p:blipFill>
        <p:spPr>
          <a:xfrm>
            <a:off x="11176000" y="38100"/>
            <a:ext cx="5080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AC6F15-89A2-43EC-BA62-AFA3056AD606}"/>
              </a:ext>
            </a:extLst>
          </p:cNvPr>
          <p:cNvSpPr txBox="1"/>
          <p:nvPr/>
        </p:nvSpPr>
        <p:spPr>
          <a:xfrm>
            <a:off x="812800" y="527714"/>
            <a:ext cx="10058400" cy="762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i="1" u="sng" dirty="0">
                <a:solidFill>
                  <a:srgbClr val="00B0F0"/>
                </a:solidFill>
              </a:rPr>
              <a:t>Agenda 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</a:rPr>
              <a:t>About V-Learn &amp; Proposal – Quick View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</a:rPr>
              <a:t>Transforming Fragmented Telemetry into Executive Insight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</a:rPr>
              <a:t>Rapid Engagement Growth Dictates a Microlearning Mandate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</a:rPr>
              <a:t>Healthy Top-of-Funnel with throughput with untapped Mid-Funnel Potential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</a:rPr>
              <a:t>Churn Risk is not systemic. It is a Localized Geographic </a:t>
            </a:r>
            <a:r>
              <a:rPr lang="en-US" sz="2400" dirty="0" err="1">
                <a:solidFill>
                  <a:srgbClr val="7030A0"/>
                </a:solidFill>
              </a:rPr>
              <a:t>Anamoly</a:t>
            </a:r>
            <a:endParaRPr lang="en-US" sz="2400" dirty="0">
              <a:solidFill>
                <a:srgbClr val="7030A0"/>
              </a:solidFill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</a:rPr>
              <a:t>Exceptional Instructional Baselines Provide a Blueprint for Scaling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</a:rPr>
              <a:t>High Efficacy however Assessment Uniformity requires </a:t>
            </a:r>
            <a:r>
              <a:rPr lang="en-US" sz="2400" dirty="0" err="1">
                <a:solidFill>
                  <a:srgbClr val="7030A0"/>
                </a:solidFill>
              </a:rPr>
              <a:t>Recallibration</a:t>
            </a:r>
            <a:endParaRPr lang="en-US" sz="2400" dirty="0">
              <a:solidFill>
                <a:srgbClr val="7030A0"/>
              </a:solidFill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</a:rPr>
              <a:t>Interventions – Blue Print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</a:rPr>
              <a:t>Further Recommendations to Improve Learner Engagement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1160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71094"/>
          <a:stretch/>
        </p:blipFill>
        <p:spPr>
          <a:xfrm>
            <a:off x="11557000" y="38100"/>
            <a:ext cx="4699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AC6F15-89A2-43EC-BA62-AFA3056AD606}"/>
              </a:ext>
            </a:extLst>
          </p:cNvPr>
          <p:cNvSpPr txBox="1"/>
          <p:nvPr/>
        </p:nvSpPr>
        <p:spPr>
          <a:xfrm>
            <a:off x="431800" y="527714"/>
            <a:ext cx="10896600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i="1" u="sng" dirty="0">
                <a:solidFill>
                  <a:srgbClr val="00B0F0"/>
                </a:solidFill>
              </a:rPr>
              <a:t>V-Learn - Project Background :</a:t>
            </a:r>
          </a:p>
          <a:p>
            <a:endParaRPr lang="en-US" sz="2000" dirty="0"/>
          </a:p>
          <a:p>
            <a:r>
              <a:rPr lang="en-US" sz="2000" dirty="0"/>
              <a:t>V-Learn, an </a:t>
            </a:r>
            <a:r>
              <a:rPr lang="en-US" sz="2000" dirty="0" err="1"/>
              <a:t>Edtech</a:t>
            </a:r>
            <a:r>
              <a:rPr lang="en-US" sz="2000" dirty="0"/>
              <a:t> Platform is empowering learners to become better in their career paths. However, currently facing the day-to-day challenges in the following key areas :</a:t>
            </a:r>
            <a:endParaRPr lang="en-US" sz="3200" b="1" i="1" u="sng" dirty="0">
              <a:solidFill>
                <a:srgbClr val="00B0F0"/>
              </a:solidFill>
            </a:endParaRPr>
          </a:p>
          <a:p>
            <a:endParaRPr lang="en-IN" dirty="0"/>
          </a:p>
          <a:p>
            <a:r>
              <a:rPr lang="en-US" dirty="0"/>
              <a:t>• Limited visibility into </a:t>
            </a:r>
            <a:r>
              <a:rPr lang="en-US" b="1" dirty="0">
                <a:solidFill>
                  <a:srgbClr val="002060"/>
                </a:solidFill>
              </a:rPr>
              <a:t>Daily Active User trends</a:t>
            </a:r>
            <a:r>
              <a:rPr lang="en-US" dirty="0"/>
              <a:t> and how students </a:t>
            </a:r>
            <a:r>
              <a:rPr lang="en-US" b="1" dirty="0">
                <a:solidFill>
                  <a:srgbClr val="002060"/>
                </a:solidFill>
              </a:rPr>
              <a:t>accessed the platform </a:t>
            </a:r>
            <a:r>
              <a:rPr lang="en-US" dirty="0"/>
              <a:t>(laptop, mobile, or</a:t>
            </a:r>
            <a:r>
              <a:rPr lang="en-IN" dirty="0"/>
              <a:t>tablet)</a:t>
            </a:r>
          </a:p>
          <a:p>
            <a:r>
              <a:rPr lang="en-US" dirty="0"/>
              <a:t>• Delayed reporting on</a:t>
            </a:r>
            <a:r>
              <a:rPr lang="en-US" b="1" dirty="0"/>
              <a:t> </a:t>
            </a:r>
            <a:r>
              <a:rPr lang="en-US" b="1" dirty="0">
                <a:solidFill>
                  <a:srgbClr val="002060"/>
                </a:solidFill>
              </a:rPr>
              <a:t>course completion,</a:t>
            </a:r>
            <a:r>
              <a:rPr lang="en-US" dirty="0"/>
              <a:t> </a:t>
            </a:r>
            <a:r>
              <a:rPr lang="en-US" b="1" dirty="0"/>
              <a:t>drop rate</a:t>
            </a:r>
            <a:r>
              <a:rPr lang="en-US" dirty="0"/>
              <a:t>, and assessment performance.</a:t>
            </a:r>
          </a:p>
          <a:p>
            <a:r>
              <a:rPr lang="en-US" dirty="0"/>
              <a:t>• Lack of consistent metrics across academic, product, and instructor-facing teams.</a:t>
            </a:r>
          </a:p>
          <a:p>
            <a:r>
              <a:rPr lang="en-US" dirty="0"/>
              <a:t>• Limited ability to compare learner outcomes </a:t>
            </a:r>
            <a:r>
              <a:rPr lang="en-US" b="1" dirty="0">
                <a:solidFill>
                  <a:srgbClr val="002060"/>
                </a:solidFill>
              </a:rPr>
              <a:t>across regions, course categories, and difficulty levels</a:t>
            </a:r>
            <a:r>
              <a:rPr lang="en-US" dirty="0"/>
              <a:t>.</a:t>
            </a:r>
          </a:p>
          <a:p>
            <a:r>
              <a:rPr lang="en-US" dirty="0"/>
              <a:t>• Difficulty identifying which learners were at </a:t>
            </a:r>
            <a:r>
              <a:rPr lang="en-US" b="1" dirty="0"/>
              <a:t>high risk </a:t>
            </a:r>
            <a:r>
              <a:rPr lang="en-US" dirty="0"/>
              <a:t>of disengaging or dropping a course.</a:t>
            </a:r>
          </a:p>
          <a:p>
            <a:r>
              <a:rPr lang="en-US" dirty="0"/>
              <a:t>• </a:t>
            </a:r>
            <a:r>
              <a:rPr lang="en-US" b="1" dirty="0"/>
              <a:t>Manual reporting </a:t>
            </a:r>
            <a:r>
              <a:rPr lang="en-US" dirty="0"/>
              <a:t>processes that reduced speed, accuracy, and scalability.</a:t>
            </a:r>
            <a:endParaRPr lang="en-US" sz="2200" b="1" i="1" u="sng" dirty="0">
              <a:solidFill>
                <a:srgbClr val="00B0F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400" b="1" i="1" u="sng" dirty="0">
                <a:solidFill>
                  <a:srgbClr val="00B0F0"/>
                </a:solidFill>
              </a:rPr>
              <a:t>V-Learn, an EdTech platform Needs :</a:t>
            </a:r>
          </a:p>
          <a:p>
            <a:r>
              <a:rPr lang="en-US" dirty="0"/>
              <a:t>A suite of interactive Power BI dashboards focused </a:t>
            </a:r>
            <a:r>
              <a:rPr lang="en-IN" dirty="0"/>
              <a:t>on improving student engagement, course completion, and learner retention.</a:t>
            </a:r>
          </a:p>
          <a:p>
            <a:endParaRPr lang="en-IN" dirty="0"/>
          </a:p>
          <a:p>
            <a:r>
              <a:rPr lang="en-IN" dirty="0"/>
              <a:t>To start with, </a:t>
            </a:r>
            <a:r>
              <a:rPr lang="en-US" dirty="0"/>
              <a:t>V Learn identified five role-focused key areas 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Student Engagement,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Course </a:t>
            </a:r>
            <a:r>
              <a:rPr lang="en-IN" dirty="0"/>
              <a:t>Completion,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Instructor &amp; Content Performance,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Assessment &amp; Quiz Performance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Risk Assessment</a:t>
            </a:r>
          </a:p>
          <a:p>
            <a:endParaRPr lang="en-IN" dirty="0"/>
          </a:p>
          <a:p>
            <a:r>
              <a:rPr lang="en-US" sz="2000" b="1" dirty="0">
                <a:solidFill>
                  <a:schemeClr val="accent1"/>
                </a:solidFill>
              </a:rPr>
              <a:t>For supporting better academic decisions, product improvements, and retention strategies</a:t>
            </a:r>
            <a:endParaRPr lang="en-US" sz="2000" b="1" i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80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71094"/>
          <a:stretch/>
        </p:blipFill>
        <p:spPr>
          <a:xfrm>
            <a:off x="11557000" y="38100"/>
            <a:ext cx="4699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AC6F15-89A2-43EC-BA62-AFA3056AD606}"/>
              </a:ext>
            </a:extLst>
          </p:cNvPr>
          <p:cNvSpPr txBox="1"/>
          <p:nvPr/>
        </p:nvSpPr>
        <p:spPr>
          <a:xfrm>
            <a:off x="431800" y="527714"/>
            <a:ext cx="108966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i="1" u="sng" dirty="0">
                <a:solidFill>
                  <a:srgbClr val="00B0F0"/>
                </a:solidFill>
              </a:rPr>
              <a:t>V-Learn – Next Growth Phase – a Snapshot of Recommendation</a:t>
            </a:r>
          </a:p>
          <a:p>
            <a:endParaRPr lang="en-US" sz="2000" dirty="0"/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rgbClr val="7030A0"/>
                </a:solidFill>
              </a:rPr>
              <a:t>Develop an Enterprise-level Tracker App on a wider scale using the Artificial Intelligence &amp; Machine Learning Models </a:t>
            </a:r>
            <a:r>
              <a:rPr lang="en-US" sz="3000" b="1" dirty="0">
                <a:solidFill>
                  <a:srgbClr val="7030A0"/>
                </a:solidFill>
              </a:rPr>
              <a:t>(AI&amp;ML)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30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rgbClr val="7030A0"/>
                </a:solidFill>
              </a:rPr>
              <a:t>Plan a Phase-wise roll-out for development and adoption for Better Business Performance and Student Learning Outcomes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30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30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30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3000" dirty="0">
              <a:solidFill>
                <a:srgbClr val="7030A0"/>
              </a:solidFill>
            </a:endParaRPr>
          </a:p>
          <a:p>
            <a:r>
              <a:rPr lang="en-US" sz="3000" dirty="0">
                <a:solidFill>
                  <a:srgbClr val="00B050"/>
                </a:solidFill>
              </a:rPr>
              <a:t>		Thank You &amp; Lets Hope for the Best</a:t>
            </a:r>
          </a:p>
          <a:p>
            <a:r>
              <a:rPr lang="en-US" sz="3000" dirty="0">
                <a:solidFill>
                  <a:schemeClr val="accent1"/>
                </a:solidFill>
              </a:rPr>
              <a:t> </a:t>
            </a:r>
            <a:endParaRPr lang="en-US" sz="3000" i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073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323</Words>
  <Application>Microsoft Office PowerPoint</Application>
  <PresentationFormat>Custom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11</cp:revision>
  <dcterms:created xsi:type="dcterms:W3CDTF">2006-08-16T00:00:00Z</dcterms:created>
  <dcterms:modified xsi:type="dcterms:W3CDTF">2026-08-08T09:51:00Z</dcterms:modified>
</cp:coreProperties>
</file>